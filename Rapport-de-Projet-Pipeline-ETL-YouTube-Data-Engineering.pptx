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6"/>
  </p:notesMasterIdLst>
  <p:sldIdLst>
    <p:sldId id="256" r:id="rId2"/>
    <p:sldId id="257" r:id="rId3"/>
    <p:sldId id="258" r:id="rId4"/>
    <p:sldId id="259" r:id="rId5"/>
  </p:sldIdLst>
  <p:sldSz cx="9144000" cy="5143500" type="screen16x9"/>
  <p:notesSz cx="5143500" cy="9144000"/>
  <p:embeddedFontLst>
    <p:embeddedFont>
      <p:font typeface="Raleway Medium" pitchFamily="2" charset="0"/>
      <p:regular r:id="rId7"/>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7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font" Target="fonts/font1.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455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1B1E"/>
          </a:solidFill>
          <a:ln/>
        </p:spPr>
      </p:sp>
      <p:sp>
        <p:nvSpPr>
          <p:cNvPr id="3" name="Shape 1"/>
          <p:cNvSpPr/>
          <p:nvPr/>
        </p:nvSpPr>
        <p:spPr>
          <a:xfrm>
            <a:off x="0" y="0"/>
            <a:ext cx="9144000" cy="51435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16285" y="477589"/>
            <a:ext cx="8111430" cy="717054"/>
          </a:xfrm>
          <a:prstGeom prst="rect">
            <a:avLst/>
          </a:prstGeom>
          <a:noFill/>
          <a:ln/>
        </p:spPr>
        <p:txBody>
          <a:bodyPr wrap="square" lIns="0" tIns="0" rIns="0" bIns="0" rtlCol="0" anchor="t"/>
          <a:lstStyle/>
          <a:p>
            <a:pPr marL="0" indent="0" algn="l">
              <a:lnSpc>
                <a:spcPts val="2800"/>
              </a:lnSpc>
              <a:buNone/>
            </a:pPr>
            <a:r>
              <a:rPr lang="en-US" sz="2250" b="1" dirty="0">
                <a:solidFill>
                  <a:srgbClr val="FFE14D"/>
                </a:solidFill>
                <a:latin typeface="Comfortaa Bold" pitchFamily="34" charset="0"/>
                <a:ea typeface="Comfortaa Bold" pitchFamily="34" charset="-122"/>
                <a:cs typeface="Comfortaa Bold" pitchFamily="34" charset="-120"/>
              </a:rPr>
              <a:t>Rapport de Projet – Pipeline ETL YouTube Data Engineering</a:t>
            </a:r>
            <a:endParaRPr lang="en-US" sz="2250" dirty="0"/>
          </a:p>
        </p:txBody>
      </p:sp>
      <p:sp>
        <p:nvSpPr>
          <p:cNvPr id="3" name="Text 1"/>
          <p:cNvSpPr/>
          <p:nvPr/>
        </p:nvSpPr>
        <p:spPr>
          <a:xfrm>
            <a:off x="516285" y="1436638"/>
            <a:ext cx="8111430" cy="640259"/>
          </a:xfrm>
          <a:prstGeom prst="rect">
            <a:avLst/>
          </a:prstGeom>
          <a:noFill/>
          <a:ln/>
        </p:spPr>
        <p:txBody>
          <a:bodyPr wrap="square" lIns="0" tIns="0" rIns="0" bIns="0" rtlCol="0" anchor="t"/>
          <a:lstStyle/>
          <a:p>
            <a:pPr marL="0" indent="0" algn="l">
              <a:lnSpc>
                <a:spcPts val="1250"/>
              </a:lnSpc>
              <a:buNone/>
            </a:pPr>
            <a:r>
              <a:rPr lang="en-US" sz="800" dirty="0">
                <a:solidFill>
                  <a:srgbClr val="D7D4CC"/>
                </a:solidFill>
                <a:latin typeface="Raleway Medium" pitchFamily="34" charset="0"/>
                <a:ea typeface="Raleway Medium" pitchFamily="34" charset="-122"/>
                <a:cs typeface="Raleway Medium" pitchFamily="34" charset="-120"/>
              </a:rPr>
              <a:t>     Pipeline ETL YouTube – Analyse décisionnelle avec Power BI. Ce projet de     Data Engineering consistait à concevoir et déployer un flux ETL complet     pour extraire des données depuis l’API YouTube Data v3, les transformer     en datasets analytiques et produire des tableaux de bord exploitables     dans Power BI. Le périmètre comprenait l’automatisation de la collecte,     la normalisation de JSON, la gestion de la sécurité des credentials et     la simulation d’une architecture proche d’un environnement industriel.   </a:t>
            </a:r>
            <a:endParaRPr lang="en-US" sz="800" dirty="0"/>
          </a:p>
        </p:txBody>
      </p:sp>
      <p:pic>
        <p:nvPicPr>
          <p:cNvPr id="4" name="Image 0" descr="preencoded.png"/>
          <p:cNvPicPr>
            <a:picLocks noChangeAspect="1"/>
          </p:cNvPicPr>
          <p:nvPr/>
        </p:nvPicPr>
        <p:blipFill>
          <a:blip r:embed="rId3"/>
          <a:stretch>
            <a:fillRect/>
          </a:stretch>
        </p:blipFill>
        <p:spPr>
          <a:xfrm>
            <a:off x="516285" y="2213000"/>
            <a:ext cx="754856" cy="466502"/>
          </a:xfrm>
          <a:prstGeom prst="rect">
            <a:avLst/>
          </a:prstGeom>
        </p:spPr>
      </p:pic>
      <p:sp>
        <p:nvSpPr>
          <p:cNvPr id="5" name="Text 2"/>
          <p:cNvSpPr/>
          <p:nvPr/>
        </p:nvSpPr>
        <p:spPr>
          <a:xfrm>
            <a:off x="1422350" y="2213000"/>
            <a:ext cx="1434182" cy="179189"/>
          </a:xfrm>
          <a:prstGeom prst="rect">
            <a:avLst/>
          </a:prstGeom>
          <a:noFill/>
          <a:ln/>
        </p:spPr>
        <p:txBody>
          <a:bodyPr wrap="none" lIns="0" tIns="0" rIns="0" bIns="0" rtlCol="0" anchor="t"/>
          <a:lstStyle/>
          <a:p>
            <a:pPr marL="0" indent="0" algn="l">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Objectifs du projet</a:t>
            </a:r>
            <a:endParaRPr lang="en-US" sz="1100" dirty="0"/>
          </a:p>
        </p:txBody>
      </p:sp>
      <p:sp>
        <p:nvSpPr>
          <p:cNvPr id="6" name="Text 3"/>
          <p:cNvSpPr/>
          <p:nvPr/>
        </p:nvSpPr>
        <p:spPr>
          <a:xfrm>
            <a:off x="1422350" y="2464743"/>
            <a:ext cx="1696938" cy="2201094"/>
          </a:xfrm>
          <a:prstGeom prst="rect">
            <a:avLst/>
          </a:prstGeom>
          <a:noFill/>
          <a:ln/>
        </p:spPr>
        <p:txBody>
          <a:bodyPr wrap="square" lIns="0" tIns="0" rIns="0" bIns="0" rtlCol="0" anchor="t"/>
          <a:lstStyle/>
          <a:p>
            <a:pPr marL="0" indent="0" algn="l">
              <a:lnSpc>
                <a:spcPts val="1550"/>
              </a:lnSpc>
              <a:buNone/>
            </a:pPr>
            <a:r>
              <a:rPr lang="en-US" sz="1000" dirty="0">
                <a:solidFill>
                  <a:srgbClr val="D7D4CC"/>
                </a:solidFill>
                <a:latin typeface="Raleway Medium" pitchFamily="34" charset="0"/>
                <a:ea typeface="Raleway Medium" pitchFamily="34" charset="-122"/>
                <a:cs typeface="Raleway Medium" pitchFamily="34" charset="-120"/>
              </a:rPr>
              <a:t>         - Interroger l’API YouTube Data v3 et automatiser la collecte des vidéos.         - Transformer les réponses JSON en dataset analytique structuré.         - Construire un dashboard Power BI pour l’analyse décisionnelle.         - Simuler une architecture ETL industrielle.       </a:t>
            </a:r>
            <a:endParaRPr lang="en-US" sz="1000" dirty="0"/>
          </a:p>
        </p:txBody>
      </p:sp>
      <p:pic>
        <p:nvPicPr>
          <p:cNvPr id="7" name="Image 1" descr="preencoded.png"/>
          <p:cNvPicPr>
            <a:picLocks noChangeAspect="1"/>
          </p:cNvPicPr>
          <p:nvPr/>
        </p:nvPicPr>
        <p:blipFill>
          <a:blip r:embed="rId4"/>
          <a:stretch>
            <a:fillRect/>
          </a:stretch>
        </p:blipFill>
        <p:spPr>
          <a:xfrm>
            <a:off x="3270498" y="2213000"/>
            <a:ext cx="754856" cy="466502"/>
          </a:xfrm>
          <a:prstGeom prst="rect">
            <a:avLst/>
          </a:prstGeom>
        </p:spPr>
      </p:pic>
      <p:sp>
        <p:nvSpPr>
          <p:cNvPr id="8" name="Text 4"/>
          <p:cNvSpPr/>
          <p:nvPr/>
        </p:nvSpPr>
        <p:spPr>
          <a:xfrm>
            <a:off x="4176564" y="2213000"/>
            <a:ext cx="1434182" cy="179189"/>
          </a:xfrm>
          <a:prstGeom prst="rect">
            <a:avLst/>
          </a:prstGeom>
          <a:noFill/>
          <a:ln/>
        </p:spPr>
        <p:txBody>
          <a:bodyPr wrap="none" lIns="0" tIns="0" rIns="0" bIns="0" rtlCol="0" anchor="t"/>
          <a:lstStyle/>
          <a:p>
            <a:pPr marL="0" indent="0" algn="l">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Technologies</a:t>
            </a:r>
            <a:endParaRPr lang="en-US" sz="1100" dirty="0"/>
          </a:p>
        </p:txBody>
      </p:sp>
      <p:sp>
        <p:nvSpPr>
          <p:cNvPr id="9" name="Text 5"/>
          <p:cNvSpPr/>
          <p:nvPr/>
        </p:nvSpPr>
        <p:spPr>
          <a:xfrm>
            <a:off x="4176564" y="2464743"/>
            <a:ext cx="1696938" cy="800398"/>
          </a:xfrm>
          <a:prstGeom prst="rect">
            <a:avLst/>
          </a:prstGeom>
          <a:noFill/>
          <a:ln/>
        </p:spPr>
        <p:txBody>
          <a:bodyPr wrap="square" lIns="0" tIns="0" rIns="0" bIns="0" rtlCol="0" anchor="t"/>
          <a:lstStyle/>
          <a:p>
            <a:pPr marL="0" indent="0" algn="l">
              <a:lnSpc>
                <a:spcPts val="1550"/>
              </a:lnSpc>
              <a:buNone/>
            </a:pPr>
            <a:r>
              <a:rPr lang="en-US" sz="1000" dirty="0">
                <a:solidFill>
                  <a:srgbClr val="D7D4CC"/>
                </a:solidFill>
                <a:latin typeface="Raleway Medium" pitchFamily="34" charset="0"/>
                <a:ea typeface="Raleway Medium" pitchFamily="34" charset="-122"/>
                <a:cs typeface="Raleway Medium" pitchFamily="34" charset="-120"/>
              </a:rPr>
              <a:t>         Python (requests, pandas, json, dotenv) • API YouTube Data v3 • Power BI •         GitHub • Jira.       </a:t>
            </a:r>
            <a:endParaRPr lang="en-US" sz="1000" dirty="0"/>
          </a:p>
        </p:txBody>
      </p:sp>
      <p:pic>
        <p:nvPicPr>
          <p:cNvPr id="10" name="Image 2" descr="preencoded.png"/>
          <p:cNvPicPr>
            <a:picLocks noChangeAspect="1"/>
          </p:cNvPicPr>
          <p:nvPr/>
        </p:nvPicPr>
        <p:blipFill>
          <a:blip r:embed="rId5"/>
          <a:stretch>
            <a:fillRect/>
          </a:stretch>
        </p:blipFill>
        <p:spPr>
          <a:xfrm>
            <a:off x="6024711" y="2213000"/>
            <a:ext cx="754856" cy="466502"/>
          </a:xfrm>
          <a:prstGeom prst="rect">
            <a:avLst/>
          </a:prstGeom>
        </p:spPr>
      </p:pic>
      <p:sp>
        <p:nvSpPr>
          <p:cNvPr id="11" name="Text 6"/>
          <p:cNvSpPr/>
          <p:nvPr/>
        </p:nvSpPr>
        <p:spPr>
          <a:xfrm>
            <a:off x="6930777" y="2213000"/>
            <a:ext cx="1696938" cy="358378"/>
          </a:xfrm>
          <a:prstGeom prst="rect">
            <a:avLst/>
          </a:prstGeom>
          <a:noFill/>
          <a:ln/>
        </p:spPr>
        <p:txBody>
          <a:bodyPr wrap="square" lIns="0" tIns="0" rIns="0" bIns="0" rtlCol="0" anchor="t"/>
          <a:lstStyle/>
          <a:p>
            <a:pPr marL="0" indent="0" algn="l">
              <a:lnSpc>
                <a:spcPts val="1400"/>
              </a:lnSpc>
              <a:buNone/>
            </a:pPr>
            <a:r>
              <a:rPr lang="en-US" sz="1100" b="1" dirty="0">
                <a:solidFill>
                  <a:srgbClr val="D7D4CC"/>
                </a:solidFill>
                <a:latin typeface="Comfortaa Bold" pitchFamily="34" charset="0"/>
                <a:ea typeface="Comfortaa Bold" pitchFamily="34" charset="-122"/>
                <a:cs typeface="Comfortaa Bold" pitchFamily="34" charset="-120"/>
              </a:rPr>
              <a:t>Architecture (synthèse)</a:t>
            </a:r>
            <a:endParaRPr lang="en-US" sz="1100" dirty="0"/>
          </a:p>
        </p:txBody>
      </p:sp>
      <p:sp>
        <p:nvSpPr>
          <p:cNvPr id="12" name="Text 7"/>
          <p:cNvSpPr/>
          <p:nvPr/>
        </p:nvSpPr>
        <p:spPr>
          <a:xfrm>
            <a:off x="6930777" y="2643932"/>
            <a:ext cx="1696938" cy="800398"/>
          </a:xfrm>
          <a:prstGeom prst="rect">
            <a:avLst/>
          </a:prstGeom>
          <a:noFill/>
          <a:ln/>
        </p:spPr>
        <p:txBody>
          <a:bodyPr wrap="square" lIns="0" tIns="0" rIns="0" bIns="0" rtlCol="0" anchor="t"/>
          <a:lstStyle/>
          <a:p>
            <a:pPr marL="0" indent="0" algn="l">
              <a:lnSpc>
                <a:spcPts val="1550"/>
              </a:lnSpc>
              <a:buNone/>
            </a:pPr>
            <a:r>
              <a:rPr lang="en-US" sz="1000" dirty="0">
                <a:solidFill>
                  <a:srgbClr val="D7D4CC"/>
                </a:solidFill>
                <a:latin typeface="Raleway Medium" pitchFamily="34" charset="0"/>
                <a:ea typeface="Raleway Medium" pitchFamily="34" charset="-122"/>
                <a:cs typeface="Raleway Medium" pitchFamily="34" charset="-120"/>
              </a:rPr>
              <a:t> YouTube API → Ingestion Python → Stockage JSON → Transformation → Dataset CSV → Power BI.</a:t>
            </a:r>
            <a:endParaRPr lang="en-US" sz="1000" dirty="0"/>
          </a:p>
        </p:txBody>
      </p:sp>
      <p:sp>
        <p:nvSpPr>
          <p:cNvPr id="13" name="Rectangle : coins arrondis 12">
            <a:extLst>
              <a:ext uri="{FF2B5EF4-FFF2-40B4-BE49-F238E27FC236}">
                <a16:creationId xmlns:a16="http://schemas.microsoft.com/office/drawing/2014/main" id="{287144C4-29B5-F1E8-8A43-4B0B55DA2F71}"/>
              </a:ext>
            </a:extLst>
          </p:cNvPr>
          <p:cNvSpPr/>
          <p:nvPr/>
        </p:nvSpPr>
        <p:spPr>
          <a:xfrm>
            <a:off x="8067822" y="4818184"/>
            <a:ext cx="998806" cy="269045"/>
          </a:xfrm>
          <a:prstGeom prst="round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9095" y="394990"/>
            <a:ext cx="7155433" cy="346546"/>
          </a:xfrm>
          <a:prstGeom prst="rect">
            <a:avLst/>
          </a:prstGeom>
          <a:noFill/>
          <a:ln/>
        </p:spPr>
        <p:txBody>
          <a:bodyPr wrap="none" lIns="0" tIns="0" rIns="0" bIns="0" rtlCol="0" anchor="t"/>
          <a:lstStyle/>
          <a:p>
            <a:pPr marL="0" indent="0" algn="l">
              <a:lnSpc>
                <a:spcPts val="2700"/>
              </a:lnSpc>
              <a:buNone/>
            </a:pPr>
            <a:r>
              <a:rPr lang="en-US" sz="2150" b="1" dirty="0">
                <a:solidFill>
                  <a:srgbClr val="FFE14D"/>
                </a:solidFill>
                <a:latin typeface="Comfortaa Bold" pitchFamily="34" charset="0"/>
                <a:ea typeface="Comfortaa Bold" pitchFamily="34" charset="-122"/>
                <a:cs typeface="Comfortaa Bold" pitchFamily="34" charset="-120"/>
              </a:rPr>
              <a:t>Architecture ETL et Pipeline — Détails techniques</a:t>
            </a:r>
            <a:endParaRPr lang="en-US" sz="2150" dirty="0"/>
          </a:p>
        </p:txBody>
      </p:sp>
      <p:sp>
        <p:nvSpPr>
          <p:cNvPr id="3" name="Text 1"/>
          <p:cNvSpPr/>
          <p:nvPr/>
        </p:nvSpPr>
        <p:spPr>
          <a:xfrm>
            <a:off x="499095" y="967680"/>
            <a:ext cx="8145810" cy="380554"/>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Le pipeline se décompose en trois phases classiques (Extract / Transform / Load).     Ci‑dessous, les étapes réalisées et les choix techniques adoptés pour assurer     fiabilité, reproductibilité et respect des bonnes pratiques de sécurité.   </a:t>
            </a:r>
            <a:endParaRPr lang="en-US" sz="950" dirty="0"/>
          </a:p>
        </p:txBody>
      </p:sp>
      <p:sp>
        <p:nvSpPr>
          <p:cNvPr id="4" name="Shape 2"/>
          <p:cNvSpPr/>
          <p:nvPr/>
        </p:nvSpPr>
        <p:spPr>
          <a:xfrm>
            <a:off x="499095" y="1475408"/>
            <a:ext cx="1951658" cy="2566467"/>
          </a:xfrm>
          <a:prstGeom prst="roundRect">
            <a:avLst>
              <a:gd name="adj" fmla="val 9590"/>
            </a:avLst>
          </a:prstGeom>
          <a:solidFill>
            <a:srgbClr val="46464A"/>
          </a:solidFill>
          <a:ln/>
        </p:spPr>
      </p:sp>
      <p:sp>
        <p:nvSpPr>
          <p:cNvPr id="5" name="Text 3"/>
          <p:cNvSpPr/>
          <p:nvPr/>
        </p:nvSpPr>
        <p:spPr>
          <a:xfrm>
            <a:off x="623813" y="1600126"/>
            <a:ext cx="1514475" cy="173236"/>
          </a:xfrm>
          <a:prstGeom prst="rect">
            <a:avLst/>
          </a:prstGeom>
          <a:noFill/>
          <a:ln/>
        </p:spPr>
        <p:txBody>
          <a:bodyPr wrap="non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1. Extraction (Extract)</a:t>
            </a:r>
            <a:endParaRPr lang="en-US" sz="1050" dirty="0"/>
          </a:p>
        </p:txBody>
      </p:sp>
      <p:sp>
        <p:nvSpPr>
          <p:cNvPr id="6" name="Text 4"/>
          <p:cNvSpPr/>
          <p:nvPr/>
        </p:nvSpPr>
        <p:spPr>
          <a:xfrm>
            <a:off x="623813" y="1841153"/>
            <a:ext cx="1702222" cy="1712491"/>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Connexion sécurisée à l’API YouTube Data v3, récupération des playlists         et des vidéos d’une chaîne. Gestion de la pagination via tokens et         extraction des Video IDs en batch pour limiter les appels et respecter         les quotas.       </a:t>
            </a:r>
            <a:endParaRPr lang="en-US" sz="950" dirty="0"/>
          </a:p>
        </p:txBody>
      </p:sp>
      <p:sp>
        <p:nvSpPr>
          <p:cNvPr id="7" name="Shape 5"/>
          <p:cNvSpPr/>
          <p:nvPr/>
        </p:nvSpPr>
        <p:spPr>
          <a:xfrm>
            <a:off x="2563788" y="1475408"/>
            <a:ext cx="1951658" cy="2566467"/>
          </a:xfrm>
          <a:prstGeom prst="roundRect">
            <a:avLst>
              <a:gd name="adj" fmla="val 9590"/>
            </a:avLst>
          </a:prstGeom>
          <a:solidFill>
            <a:srgbClr val="46464A"/>
          </a:solidFill>
          <a:ln/>
        </p:spPr>
      </p:sp>
      <p:sp>
        <p:nvSpPr>
          <p:cNvPr id="8" name="Text 6"/>
          <p:cNvSpPr/>
          <p:nvPr/>
        </p:nvSpPr>
        <p:spPr>
          <a:xfrm>
            <a:off x="2688506" y="1600126"/>
            <a:ext cx="1702222" cy="346472"/>
          </a:xfrm>
          <a:prstGeom prst="rect">
            <a:avLst/>
          </a:prstGeom>
          <a:noFill/>
          <a:ln/>
        </p:spPr>
        <p:txBody>
          <a:bodyPr wrap="squar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2. Transformation (Transform)</a:t>
            </a:r>
            <a:endParaRPr lang="en-US" sz="1050" dirty="0"/>
          </a:p>
        </p:txBody>
      </p:sp>
      <p:sp>
        <p:nvSpPr>
          <p:cNvPr id="9" name="Text 7"/>
          <p:cNvSpPr/>
          <p:nvPr/>
        </p:nvSpPr>
        <p:spPr>
          <a:xfrm>
            <a:off x="2688506" y="2014389"/>
            <a:ext cx="1702222" cy="1902768"/>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Conversion des objets JSON en DataFrame Pandas, nettoyage et normalisation         (types, nulls), transformation des dates et durées (ISO 8601 → secondes /         format lisible), structuration des métriques clés : vues, likes,         commentaires, durée.       </a:t>
            </a:r>
            <a:endParaRPr lang="en-US" sz="950" dirty="0"/>
          </a:p>
        </p:txBody>
      </p:sp>
      <p:sp>
        <p:nvSpPr>
          <p:cNvPr id="10" name="Shape 8"/>
          <p:cNvSpPr/>
          <p:nvPr/>
        </p:nvSpPr>
        <p:spPr>
          <a:xfrm>
            <a:off x="4628480" y="1475408"/>
            <a:ext cx="1951658" cy="2566467"/>
          </a:xfrm>
          <a:prstGeom prst="roundRect">
            <a:avLst>
              <a:gd name="adj" fmla="val 9590"/>
            </a:avLst>
          </a:prstGeom>
          <a:solidFill>
            <a:srgbClr val="46464A"/>
          </a:solidFill>
          <a:ln/>
        </p:spPr>
      </p:sp>
      <p:sp>
        <p:nvSpPr>
          <p:cNvPr id="11" name="Text 9"/>
          <p:cNvSpPr/>
          <p:nvPr/>
        </p:nvSpPr>
        <p:spPr>
          <a:xfrm>
            <a:off x="4753198" y="1600126"/>
            <a:ext cx="1550343" cy="173236"/>
          </a:xfrm>
          <a:prstGeom prst="rect">
            <a:avLst/>
          </a:prstGeom>
          <a:noFill/>
          <a:ln/>
        </p:spPr>
        <p:txBody>
          <a:bodyPr wrap="non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3. Chargement (Load)</a:t>
            </a:r>
            <a:endParaRPr lang="en-US" sz="1050" dirty="0"/>
          </a:p>
        </p:txBody>
      </p:sp>
      <p:sp>
        <p:nvSpPr>
          <p:cNvPr id="12" name="Text 10"/>
          <p:cNvSpPr/>
          <p:nvPr/>
        </p:nvSpPr>
        <p:spPr>
          <a:xfrm>
            <a:off x="4753198" y="1841153"/>
            <a:ext cx="1702222" cy="1141661"/>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Export du dataset final en CSV/JSON, intégration dans Power BI et         modélisation analytique pour permettre explorations et requêtes         interactives.       </a:t>
            </a:r>
            <a:endParaRPr lang="en-US" sz="950" dirty="0"/>
          </a:p>
        </p:txBody>
      </p:sp>
      <p:sp>
        <p:nvSpPr>
          <p:cNvPr id="13" name="Shape 11"/>
          <p:cNvSpPr/>
          <p:nvPr/>
        </p:nvSpPr>
        <p:spPr>
          <a:xfrm>
            <a:off x="6693173" y="1475408"/>
            <a:ext cx="1951732" cy="2566467"/>
          </a:xfrm>
          <a:prstGeom prst="roundRect">
            <a:avLst>
              <a:gd name="adj" fmla="val 9590"/>
            </a:avLst>
          </a:prstGeom>
          <a:solidFill>
            <a:srgbClr val="46464A"/>
          </a:solidFill>
          <a:ln/>
        </p:spPr>
      </p:sp>
      <p:sp>
        <p:nvSpPr>
          <p:cNvPr id="14" name="Text 12"/>
          <p:cNvSpPr/>
          <p:nvPr/>
        </p:nvSpPr>
        <p:spPr>
          <a:xfrm>
            <a:off x="6817891" y="1600126"/>
            <a:ext cx="1386334" cy="173236"/>
          </a:xfrm>
          <a:prstGeom prst="rect">
            <a:avLst/>
          </a:prstGeom>
          <a:noFill/>
          <a:ln/>
        </p:spPr>
        <p:txBody>
          <a:bodyPr wrap="none" lIns="0" tIns="0" rIns="0" bIns="0" rtlCol="0" anchor="t"/>
          <a:lstStyle/>
          <a:p>
            <a:pPr marL="0" indent="0" algn="l">
              <a:lnSpc>
                <a:spcPts val="1350"/>
              </a:lnSpc>
              <a:buNone/>
            </a:pPr>
            <a:r>
              <a:rPr lang="en-US" sz="1050" b="1" dirty="0">
                <a:solidFill>
                  <a:srgbClr val="D7D4CC"/>
                </a:solidFill>
                <a:latin typeface="Comfortaa Bold" pitchFamily="34" charset="0"/>
                <a:ea typeface="Comfortaa Bold" pitchFamily="34" charset="-122"/>
                <a:cs typeface="Comfortaa Bold" pitchFamily="34" charset="-120"/>
              </a:rPr>
              <a:t>Sécurité</a:t>
            </a:r>
            <a:endParaRPr lang="en-US" sz="1050" dirty="0"/>
          </a:p>
        </p:txBody>
      </p:sp>
      <p:sp>
        <p:nvSpPr>
          <p:cNvPr id="15" name="Text 13"/>
          <p:cNvSpPr/>
          <p:nvPr/>
        </p:nvSpPr>
        <p:spPr>
          <a:xfrm>
            <a:off x="6817891" y="1841153"/>
            <a:ext cx="1702296" cy="1331937"/>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Stockage des credentials dans un fichier .env, protection de la clé API,         séparation des configurations et respect des meilleures pratiques d’accès.       </a:t>
            </a:r>
            <a:endParaRPr lang="en-US" sz="950" dirty="0"/>
          </a:p>
        </p:txBody>
      </p:sp>
      <p:sp>
        <p:nvSpPr>
          <p:cNvPr id="16" name="Shape 14"/>
          <p:cNvSpPr/>
          <p:nvPr/>
        </p:nvSpPr>
        <p:spPr>
          <a:xfrm>
            <a:off x="499095" y="4200227"/>
            <a:ext cx="8145810" cy="9302"/>
          </a:xfrm>
          <a:prstGeom prst="rect">
            <a:avLst/>
          </a:prstGeom>
          <a:solidFill>
            <a:srgbClr val="D7D4CC">
              <a:alpha val="50000"/>
            </a:srgbClr>
          </a:solidFill>
          <a:ln/>
        </p:spPr>
      </p:sp>
      <p:sp>
        <p:nvSpPr>
          <p:cNvPr id="17" name="Text 15"/>
          <p:cNvSpPr/>
          <p:nvPr/>
        </p:nvSpPr>
        <p:spPr>
          <a:xfrm>
            <a:off x="499095" y="4367882"/>
            <a:ext cx="8145810" cy="380554"/>
          </a:xfrm>
          <a:prstGeom prst="rect">
            <a:avLst/>
          </a:prstGeom>
          <a:noFill/>
          <a:ln/>
        </p:spPr>
        <p:txBody>
          <a:bodyPr wrap="square" lIns="0" tIns="0" rIns="0" bIns="0" rtlCol="0" anchor="t"/>
          <a:lstStyle/>
          <a:p>
            <a:pPr marL="0" indent="0" algn="l">
              <a:lnSpc>
                <a:spcPts val="1450"/>
              </a:lnSpc>
              <a:buNone/>
            </a:pPr>
            <a:r>
              <a:rPr lang="en-US" sz="950" dirty="0">
                <a:solidFill>
                  <a:srgbClr val="D7D4CC"/>
                </a:solidFill>
                <a:latin typeface="Raleway Medium" pitchFamily="34" charset="0"/>
                <a:ea typeface="Raleway Medium" pitchFamily="34" charset="-122"/>
                <a:cs typeface="Raleway Medium" pitchFamily="34" charset="-120"/>
              </a:rPr>
              <a:t> Remarques opérationnelles : gestion proactive des quotas (backoff / retry), batching pour optimiser les limites d’appels, et robustesse des parsers JSON pour tolérer schémas variables.</a:t>
            </a:r>
            <a:endParaRPr lang="en-US" sz="950" dirty="0"/>
          </a:p>
        </p:txBody>
      </p:sp>
      <p:sp>
        <p:nvSpPr>
          <p:cNvPr id="18" name="Rectangle : coins arrondis 17">
            <a:extLst>
              <a:ext uri="{FF2B5EF4-FFF2-40B4-BE49-F238E27FC236}">
                <a16:creationId xmlns:a16="http://schemas.microsoft.com/office/drawing/2014/main" id="{3847700F-CC60-90DA-562C-92B1FCD48DC6}"/>
              </a:ext>
            </a:extLst>
          </p:cNvPr>
          <p:cNvSpPr/>
          <p:nvPr/>
        </p:nvSpPr>
        <p:spPr>
          <a:xfrm>
            <a:off x="8067822" y="4818184"/>
            <a:ext cx="998806" cy="269045"/>
          </a:xfrm>
          <a:prstGeom prst="round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1831" y="366861"/>
            <a:ext cx="6130156" cy="334640"/>
          </a:xfrm>
          <a:prstGeom prst="rect">
            <a:avLst/>
          </a:prstGeom>
          <a:noFill/>
          <a:ln/>
        </p:spPr>
        <p:txBody>
          <a:bodyPr wrap="none" lIns="0" tIns="0" rIns="0" bIns="0" rtlCol="0" anchor="t"/>
          <a:lstStyle/>
          <a:p>
            <a:pPr marL="0" indent="0" algn="l">
              <a:lnSpc>
                <a:spcPts val="2600"/>
              </a:lnSpc>
              <a:buNone/>
            </a:pPr>
            <a:r>
              <a:rPr lang="en-US" sz="2100" b="1" dirty="0">
                <a:solidFill>
                  <a:srgbClr val="FFE14D"/>
                </a:solidFill>
                <a:latin typeface="Comfortaa Bold" pitchFamily="34" charset="0"/>
                <a:ea typeface="Comfortaa Bold" pitchFamily="34" charset="-122"/>
                <a:cs typeface="Comfortaa Bold" pitchFamily="34" charset="-120"/>
              </a:rPr>
              <a:t>Analyse des données &amp; Dashboard Power BI</a:t>
            </a:r>
            <a:endParaRPr lang="en-US" sz="2100" dirty="0"/>
          </a:p>
        </p:txBody>
      </p:sp>
      <p:sp>
        <p:nvSpPr>
          <p:cNvPr id="3" name="Text 1"/>
          <p:cNvSpPr/>
          <p:nvPr/>
        </p:nvSpPr>
        <p:spPr>
          <a:xfrm>
            <a:off x="481831" y="912316"/>
            <a:ext cx="8180338" cy="361355"/>
          </a:xfrm>
          <a:prstGeom prst="rect">
            <a:avLst/>
          </a:prstGeom>
          <a:noFill/>
          <a:ln/>
        </p:spPr>
        <p:txBody>
          <a:bodyPr wrap="square" lIns="0" tIns="0" rIns="0" bIns="0" rtlCol="0" anchor="t"/>
          <a:lstStyle/>
          <a:p>
            <a:pPr marL="0" indent="0" algn="l">
              <a:lnSpc>
                <a:spcPts val="1400"/>
              </a:lnSpc>
              <a:buNone/>
            </a:pPr>
            <a:r>
              <a:rPr lang="en-US" sz="900" dirty="0">
                <a:solidFill>
                  <a:srgbClr val="D7D4CC"/>
                </a:solidFill>
                <a:latin typeface="Raleway Medium" pitchFamily="34" charset="0"/>
                <a:ea typeface="Raleway Medium" pitchFamily="34" charset="-122"/>
                <a:cs typeface="Raleway Medium" pitchFamily="34" charset="-120"/>
              </a:rPr>
              <a:t>     Le tableau de bord Power BI construit à partir du dataset ETL offre une     vue complète des performances vidéos grâce à des KPI, des séries temporelles,     des classements et des filtres dynamiques. Les choix de visualisation visent     à faciliter la prise de décision produit et contenu.   </a:t>
            </a:r>
            <a:endParaRPr lang="en-US" sz="900" dirty="0"/>
          </a:p>
        </p:txBody>
      </p:sp>
      <p:pic>
        <p:nvPicPr>
          <p:cNvPr id="4" name="Image 0" descr="preencoded.png"/>
          <p:cNvPicPr>
            <a:picLocks noChangeAspect="1"/>
          </p:cNvPicPr>
          <p:nvPr/>
        </p:nvPicPr>
        <p:blipFill>
          <a:blip r:embed="rId3"/>
          <a:stretch>
            <a:fillRect/>
          </a:stretch>
        </p:blipFill>
        <p:spPr>
          <a:xfrm>
            <a:off x="481831" y="1392213"/>
            <a:ext cx="1161083" cy="1451297"/>
          </a:xfrm>
          <a:prstGeom prst="rect">
            <a:avLst/>
          </a:prstGeom>
        </p:spPr>
      </p:pic>
      <p:sp>
        <p:nvSpPr>
          <p:cNvPr id="5" name="Text 2"/>
          <p:cNvSpPr/>
          <p:nvPr/>
        </p:nvSpPr>
        <p:spPr>
          <a:xfrm>
            <a:off x="481831" y="2975223"/>
            <a:ext cx="1338560" cy="167283"/>
          </a:xfrm>
          <a:prstGeom prst="rect">
            <a:avLst/>
          </a:prstGeom>
          <a:noFill/>
          <a:ln/>
        </p:spPr>
        <p:txBody>
          <a:bodyPr wrap="none" lIns="0" tIns="0" rIns="0" bIns="0" rtlCol="0" anchor="t"/>
          <a:lstStyle/>
          <a:p>
            <a:pPr marL="0" indent="0" algn="l">
              <a:lnSpc>
                <a:spcPts val="1300"/>
              </a:lnSpc>
              <a:buNone/>
            </a:pPr>
            <a:r>
              <a:rPr lang="en-US" sz="1050" b="1" dirty="0">
                <a:solidFill>
                  <a:srgbClr val="D7D4CC"/>
                </a:solidFill>
                <a:latin typeface="Comfortaa Bold" pitchFamily="34" charset="0"/>
                <a:ea typeface="Comfortaa Bold" pitchFamily="34" charset="-122"/>
                <a:cs typeface="Comfortaa Bold" pitchFamily="34" charset="-120"/>
              </a:rPr>
              <a:t>KPI principaux</a:t>
            </a:r>
            <a:endParaRPr lang="en-US" sz="1050" dirty="0"/>
          </a:p>
        </p:txBody>
      </p:sp>
      <p:sp>
        <p:nvSpPr>
          <p:cNvPr id="6" name="Text 3"/>
          <p:cNvSpPr/>
          <p:nvPr/>
        </p:nvSpPr>
        <p:spPr>
          <a:xfrm>
            <a:off x="481831" y="3205683"/>
            <a:ext cx="2638946" cy="361355"/>
          </a:xfrm>
          <a:prstGeom prst="rect">
            <a:avLst/>
          </a:prstGeom>
          <a:noFill/>
          <a:ln/>
        </p:spPr>
        <p:txBody>
          <a:bodyPr wrap="square" lIns="0" tIns="0" rIns="0" bIns="0" rtlCol="0" anchor="t"/>
          <a:lstStyle/>
          <a:p>
            <a:pPr marL="0" indent="0" algn="l">
              <a:lnSpc>
                <a:spcPts val="1400"/>
              </a:lnSpc>
              <a:buNone/>
            </a:pPr>
            <a:r>
              <a:rPr lang="en-US" sz="900" dirty="0">
                <a:solidFill>
                  <a:srgbClr val="D7D4CC"/>
                </a:solidFill>
                <a:latin typeface="Raleway Medium" pitchFamily="34" charset="0"/>
                <a:ea typeface="Raleway Medium" pitchFamily="34" charset="-122"/>
                <a:cs typeface="Raleway Medium" pitchFamily="34" charset="-120"/>
              </a:rPr>
              <a:t>         171 vidéos analysées — 123K vues — 8K likes — 2K commentaires.       </a:t>
            </a:r>
            <a:endParaRPr lang="en-US" sz="900" dirty="0"/>
          </a:p>
        </p:txBody>
      </p:sp>
      <p:pic>
        <p:nvPicPr>
          <p:cNvPr id="7" name="Image 1" descr="preencoded.png"/>
          <p:cNvPicPr>
            <a:picLocks noChangeAspect="1"/>
          </p:cNvPicPr>
          <p:nvPr/>
        </p:nvPicPr>
        <p:blipFill>
          <a:blip r:embed="rId4"/>
          <a:stretch>
            <a:fillRect/>
          </a:stretch>
        </p:blipFill>
        <p:spPr>
          <a:xfrm>
            <a:off x="3252490" y="1392213"/>
            <a:ext cx="1161083" cy="1451297"/>
          </a:xfrm>
          <a:prstGeom prst="rect">
            <a:avLst/>
          </a:prstGeom>
        </p:spPr>
      </p:pic>
      <p:sp>
        <p:nvSpPr>
          <p:cNvPr id="8" name="Text 4"/>
          <p:cNvSpPr/>
          <p:nvPr/>
        </p:nvSpPr>
        <p:spPr>
          <a:xfrm>
            <a:off x="3252490" y="2975223"/>
            <a:ext cx="1338560" cy="167283"/>
          </a:xfrm>
          <a:prstGeom prst="rect">
            <a:avLst/>
          </a:prstGeom>
          <a:noFill/>
          <a:ln/>
        </p:spPr>
        <p:txBody>
          <a:bodyPr wrap="none" lIns="0" tIns="0" rIns="0" bIns="0" rtlCol="0" anchor="t"/>
          <a:lstStyle/>
          <a:p>
            <a:pPr marL="0" indent="0" algn="l">
              <a:lnSpc>
                <a:spcPts val="1300"/>
              </a:lnSpc>
              <a:buNone/>
            </a:pPr>
            <a:r>
              <a:rPr lang="en-US" sz="1050" b="1" dirty="0">
                <a:solidFill>
                  <a:srgbClr val="D7D4CC"/>
                </a:solidFill>
                <a:latin typeface="Comfortaa Bold" pitchFamily="34" charset="0"/>
                <a:ea typeface="Comfortaa Bold" pitchFamily="34" charset="-122"/>
                <a:cs typeface="Comfortaa Bold" pitchFamily="34" charset="-120"/>
              </a:rPr>
              <a:t>Analyses réalisées</a:t>
            </a:r>
            <a:endParaRPr lang="en-US" sz="1050" dirty="0"/>
          </a:p>
        </p:txBody>
      </p:sp>
      <p:sp>
        <p:nvSpPr>
          <p:cNvPr id="9" name="Text 5"/>
          <p:cNvSpPr/>
          <p:nvPr/>
        </p:nvSpPr>
        <p:spPr>
          <a:xfrm>
            <a:off x="3252490" y="3205683"/>
            <a:ext cx="2638946" cy="903387"/>
          </a:xfrm>
          <a:prstGeom prst="rect">
            <a:avLst/>
          </a:prstGeom>
          <a:noFill/>
          <a:ln/>
        </p:spPr>
        <p:txBody>
          <a:bodyPr wrap="square" lIns="0" tIns="0" rIns="0" bIns="0" rtlCol="0" anchor="t"/>
          <a:lstStyle/>
          <a:p>
            <a:pPr marL="0" indent="0" algn="l">
              <a:lnSpc>
                <a:spcPts val="1400"/>
              </a:lnSpc>
              <a:buNone/>
            </a:pPr>
            <a:r>
              <a:rPr lang="en-US" sz="900" dirty="0">
                <a:solidFill>
                  <a:srgbClr val="D7D4CC"/>
                </a:solidFill>
                <a:latin typeface="Raleway Medium" pitchFamily="34" charset="0"/>
                <a:ea typeface="Raleway Medium" pitchFamily="34" charset="-122"/>
                <a:cs typeface="Raleway Medium" pitchFamily="34" charset="-120"/>
              </a:rPr>
              <a:t>         Évolution des vues dans le temps, comparaison des vidéos les plus performantes,         analyse de l’engagement (likes/commentaires) et corrélation entre vues et engagement.       </a:t>
            </a:r>
            <a:endParaRPr lang="en-US" sz="900" dirty="0"/>
          </a:p>
        </p:txBody>
      </p:sp>
      <p:pic>
        <p:nvPicPr>
          <p:cNvPr id="10" name="Image 2" descr="preencoded.png"/>
          <p:cNvPicPr>
            <a:picLocks noChangeAspect="1"/>
          </p:cNvPicPr>
          <p:nvPr/>
        </p:nvPicPr>
        <p:blipFill>
          <a:blip r:embed="rId5"/>
          <a:stretch>
            <a:fillRect/>
          </a:stretch>
        </p:blipFill>
        <p:spPr>
          <a:xfrm>
            <a:off x="6023149" y="1392213"/>
            <a:ext cx="1161157" cy="1451446"/>
          </a:xfrm>
          <a:prstGeom prst="rect">
            <a:avLst/>
          </a:prstGeom>
        </p:spPr>
      </p:pic>
      <p:sp>
        <p:nvSpPr>
          <p:cNvPr id="11" name="Text 6"/>
          <p:cNvSpPr/>
          <p:nvPr/>
        </p:nvSpPr>
        <p:spPr>
          <a:xfrm>
            <a:off x="6023149" y="2975372"/>
            <a:ext cx="1543273" cy="167283"/>
          </a:xfrm>
          <a:prstGeom prst="rect">
            <a:avLst/>
          </a:prstGeom>
          <a:noFill/>
          <a:ln/>
        </p:spPr>
        <p:txBody>
          <a:bodyPr wrap="none" lIns="0" tIns="0" rIns="0" bIns="0" rtlCol="0" anchor="t"/>
          <a:lstStyle/>
          <a:p>
            <a:pPr marL="0" indent="0" algn="l">
              <a:lnSpc>
                <a:spcPts val="1300"/>
              </a:lnSpc>
              <a:buNone/>
            </a:pPr>
            <a:r>
              <a:rPr lang="en-US" sz="1050" b="1" dirty="0">
                <a:solidFill>
                  <a:srgbClr val="D7D4CC"/>
                </a:solidFill>
                <a:latin typeface="Comfortaa Bold" pitchFamily="34" charset="0"/>
                <a:ea typeface="Comfortaa Bold" pitchFamily="34" charset="-122"/>
                <a:cs typeface="Comfortaa Bold" pitchFamily="34" charset="-120"/>
              </a:rPr>
              <a:t>Choix de visualisation</a:t>
            </a:r>
            <a:endParaRPr lang="en-US" sz="1050" dirty="0"/>
          </a:p>
        </p:txBody>
      </p:sp>
      <p:sp>
        <p:nvSpPr>
          <p:cNvPr id="12" name="Text 7"/>
          <p:cNvSpPr/>
          <p:nvPr/>
        </p:nvSpPr>
        <p:spPr>
          <a:xfrm>
            <a:off x="6023149" y="3205832"/>
            <a:ext cx="2639020" cy="722709"/>
          </a:xfrm>
          <a:prstGeom prst="rect">
            <a:avLst/>
          </a:prstGeom>
          <a:noFill/>
          <a:ln/>
        </p:spPr>
        <p:txBody>
          <a:bodyPr wrap="square" lIns="0" tIns="0" rIns="0" bIns="0" rtlCol="0" anchor="t"/>
          <a:lstStyle/>
          <a:p>
            <a:pPr marL="0" indent="0" algn="l">
              <a:lnSpc>
                <a:spcPts val="1400"/>
              </a:lnSpc>
              <a:buNone/>
            </a:pPr>
            <a:r>
              <a:rPr lang="en-US" sz="900" dirty="0">
                <a:solidFill>
                  <a:srgbClr val="D7D4CC"/>
                </a:solidFill>
                <a:latin typeface="Raleway Medium" pitchFamily="34" charset="0"/>
                <a:ea typeface="Raleway Medium" pitchFamily="34" charset="-122"/>
                <a:cs typeface="Raleway Medium" pitchFamily="34" charset="-120"/>
              </a:rPr>
              <a:t>         Cartes KPI pour les indicateurs globaux, graphiques temporels pour l’évolution,         histogrammes pour le classement des vidéos et filtres dynamiques par mois/année.       </a:t>
            </a:r>
            <a:endParaRPr lang="en-US" sz="900" dirty="0"/>
          </a:p>
        </p:txBody>
      </p:sp>
      <p:sp>
        <p:nvSpPr>
          <p:cNvPr id="13" name="Shape 8"/>
          <p:cNvSpPr/>
          <p:nvPr/>
        </p:nvSpPr>
        <p:spPr>
          <a:xfrm>
            <a:off x="481831" y="4257675"/>
            <a:ext cx="8180338" cy="9004"/>
          </a:xfrm>
          <a:prstGeom prst="rect">
            <a:avLst/>
          </a:prstGeom>
          <a:solidFill>
            <a:srgbClr val="D7D4CC">
              <a:alpha val="50000"/>
            </a:srgbClr>
          </a:solidFill>
          <a:ln/>
        </p:spPr>
      </p:sp>
      <p:sp>
        <p:nvSpPr>
          <p:cNvPr id="14" name="Text 9"/>
          <p:cNvSpPr/>
          <p:nvPr/>
        </p:nvSpPr>
        <p:spPr>
          <a:xfrm>
            <a:off x="481831" y="4415284"/>
            <a:ext cx="8180338" cy="361355"/>
          </a:xfrm>
          <a:prstGeom prst="rect">
            <a:avLst/>
          </a:prstGeom>
          <a:noFill/>
          <a:ln/>
        </p:spPr>
        <p:txBody>
          <a:bodyPr wrap="square" lIns="0" tIns="0" rIns="0" bIns="0" rtlCol="0" anchor="t"/>
          <a:lstStyle/>
          <a:p>
            <a:pPr marL="0" indent="0" algn="l">
              <a:lnSpc>
                <a:spcPts val="1400"/>
              </a:lnSpc>
              <a:buNone/>
            </a:pPr>
            <a:r>
              <a:rPr lang="en-US" sz="900" dirty="0">
                <a:solidFill>
                  <a:srgbClr val="D7D4CC"/>
                </a:solidFill>
                <a:latin typeface="Raleway Medium" pitchFamily="34" charset="0"/>
                <a:ea typeface="Raleway Medium" pitchFamily="34" charset="-122"/>
                <a:cs typeface="Raleway Medium" pitchFamily="34" charset="-120"/>
              </a:rPr>
              <a:t> Résultat : transformation de données brutes de l’API en informations exploitables, permettant d’identifier contenus populaires et leviers d’engagement pour orienter la stratégie éditoriale.</a:t>
            </a:r>
            <a:endParaRPr lang="en-US" sz="900" dirty="0"/>
          </a:p>
        </p:txBody>
      </p:sp>
      <p:sp>
        <p:nvSpPr>
          <p:cNvPr id="15" name="Rectangle : coins arrondis 14">
            <a:extLst>
              <a:ext uri="{FF2B5EF4-FFF2-40B4-BE49-F238E27FC236}">
                <a16:creationId xmlns:a16="http://schemas.microsoft.com/office/drawing/2014/main" id="{1D43DC1F-8BBC-9049-355C-E03014339484}"/>
              </a:ext>
            </a:extLst>
          </p:cNvPr>
          <p:cNvSpPr/>
          <p:nvPr/>
        </p:nvSpPr>
        <p:spPr>
          <a:xfrm>
            <a:off x="8067822" y="4818184"/>
            <a:ext cx="998806" cy="269045"/>
          </a:xfrm>
          <a:prstGeom prst="round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3474" y="436959"/>
            <a:ext cx="6339408" cy="370433"/>
          </a:xfrm>
          <a:prstGeom prst="rect">
            <a:avLst/>
          </a:prstGeom>
          <a:noFill/>
          <a:ln/>
        </p:spPr>
        <p:txBody>
          <a:bodyPr wrap="none" lIns="0" tIns="0" rIns="0" bIns="0" rtlCol="0" anchor="t"/>
          <a:lstStyle/>
          <a:p>
            <a:pPr marL="0" indent="0" algn="l">
              <a:lnSpc>
                <a:spcPts val="2900"/>
              </a:lnSpc>
              <a:buNone/>
            </a:pPr>
            <a:r>
              <a:rPr lang="en-US" sz="2300" b="1" dirty="0">
                <a:solidFill>
                  <a:srgbClr val="FFE14D"/>
                </a:solidFill>
                <a:latin typeface="Comfortaa Bold" pitchFamily="34" charset="0"/>
                <a:ea typeface="Comfortaa Bold" pitchFamily="34" charset="-122"/>
                <a:cs typeface="Comfortaa Bold" pitchFamily="34" charset="-120"/>
              </a:rPr>
              <a:t>Conclusion, compétences &amp; perspectives</a:t>
            </a:r>
            <a:endParaRPr lang="en-US" sz="23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474" y="1065758"/>
            <a:ext cx="333449" cy="333449"/>
          </a:xfrm>
          <a:prstGeom prst="rect">
            <a:avLst/>
          </a:prstGeom>
        </p:spPr>
      </p:pic>
      <p:sp>
        <p:nvSpPr>
          <p:cNvPr id="4" name="Text 1"/>
          <p:cNvSpPr/>
          <p:nvPr/>
        </p:nvSpPr>
        <p:spPr>
          <a:xfrm>
            <a:off x="1028402" y="1065758"/>
            <a:ext cx="1793677" cy="185291"/>
          </a:xfrm>
          <a:prstGeom prst="rect">
            <a:avLst/>
          </a:prstGeom>
          <a:noFill/>
          <a:ln/>
        </p:spPr>
        <p:txBody>
          <a:bodyPr wrap="none" lIns="0" tIns="0" rIns="0" bIns="0" rtlCol="0" anchor="t"/>
          <a:lstStyle/>
          <a:p>
            <a:pPr marL="0" indent="0" algn="l">
              <a:lnSpc>
                <a:spcPts val="1450"/>
              </a:lnSpc>
              <a:buNone/>
            </a:pPr>
            <a:r>
              <a:rPr lang="en-US" sz="1150" b="1" dirty="0">
                <a:solidFill>
                  <a:srgbClr val="D7D4CC"/>
                </a:solidFill>
                <a:latin typeface="Comfortaa Bold" pitchFamily="34" charset="0"/>
                <a:ea typeface="Comfortaa Bold" pitchFamily="34" charset="-122"/>
                <a:cs typeface="Comfortaa Bold" pitchFamily="34" charset="-120"/>
              </a:rPr>
              <a:t>Compétences acquises</a:t>
            </a:r>
            <a:endParaRPr lang="en-US" sz="1150" dirty="0"/>
          </a:p>
        </p:txBody>
      </p:sp>
      <p:sp>
        <p:nvSpPr>
          <p:cNvPr id="5" name="Text 2"/>
          <p:cNvSpPr/>
          <p:nvPr/>
        </p:nvSpPr>
        <p:spPr>
          <a:xfrm>
            <a:off x="1028402" y="1328514"/>
            <a:ext cx="2089770" cy="1469975"/>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         Manipulation d’API REST, gestion et parsing de JSON, construction d’un pipeline ETL,         nettoyage et transformation avec Pandas, visualisation dans Power BI, et gestion         sécurisée des credentials.       </a:t>
            </a:r>
            <a:endParaRPr lang="en-US" sz="10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9651" y="1065758"/>
            <a:ext cx="333449" cy="333449"/>
          </a:xfrm>
          <a:prstGeom prst="rect">
            <a:avLst/>
          </a:prstGeom>
        </p:spPr>
      </p:pic>
      <p:sp>
        <p:nvSpPr>
          <p:cNvPr id="7" name="Text 3"/>
          <p:cNvSpPr/>
          <p:nvPr/>
        </p:nvSpPr>
        <p:spPr>
          <a:xfrm>
            <a:off x="3774579" y="1065758"/>
            <a:ext cx="1760339" cy="185291"/>
          </a:xfrm>
          <a:prstGeom prst="rect">
            <a:avLst/>
          </a:prstGeom>
          <a:noFill/>
          <a:ln/>
        </p:spPr>
        <p:txBody>
          <a:bodyPr wrap="none" lIns="0" tIns="0" rIns="0" bIns="0" rtlCol="0" anchor="t"/>
          <a:lstStyle/>
          <a:p>
            <a:pPr marL="0" indent="0" algn="l">
              <a:lnSpc>
                <a:spcPts val="1450"/>
              </a:lnSpc>
              <a:buNone/>
            </a:pPr>
            <a:r>
              <a:rPr lang="en-US" sz="1150" b="1" dirty="0">
                <a:solidFill>
                  <a:srgbClr val="D7D4CC"/>
                </a:solidFill>
                <a:latin typeface="Comfortaa Bold" pitchFamily="34" charset="0"/>
                <a:ea typeface="Comfortaa Bold" pitchFamily="34" charset="-122"/>
                <a:cs typeface="Comfortaa Bold" pitchFamily="34" charset="-120"/>
              </a:rPr>
              <a:t>Difficultés rencontrées</a:t>
            </a:r>
            <a:endParaRPr lang="en-US" sz="1150" dirty="0"/>
          </a:p>
        </p:txBody>
      </p:sp>
      <p:sp>
        <p:nvSpPr>
          <p:cNvPr id="8" name="Text 4"/>
          <p:cNvSpPr/>
          <p:nvPr/>
        </p:nvSpPr>
        <p:spPr>
          <a:xfrm>
            <a:off x="3774579" y="1328514"/>
            <a:ext cx="2089770" cy="1259979"/>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         Limites de quota de l’API YouTube, gestion de la pagination, nettoyage des données         incomplètes et transformation des durées au format ISO 8601.       </a:t>
            </a:r>
            <a:endParaRPr lang="en-US" sz="10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25828" y="1065758"/>
            <a:ext cx="333449" cy="333449"/>
          </a:xfrm>
          <a:prstGeom prst="rect">
            <a:avLst/>
          </a:prstGeom>
        </p:spPr>
      </p:pic>
      <p:sp>
        <p:nvSpPr>
          <p:cNvPr id="10" name="Text 5"/>
          <p:cNvSpPr/>
          <p:nvPr/>
        </p:nvSpPr>
        <p:spPr>
          <a:xfrm>
            <a:off x="6520755" y="1065758"/>
            <a:ext cx="1845915" cy="185291"/>
          </a:xfrm>
          <a:prstGeom prst="rect">
            <a:avLst/>
          </a:prstGeom>
          <a:noFill/>
          <a:ln/>
        </p:spPr>
        <p:txBody>
          <a:bodyPr wrap="none" lIns="0" tIns="0" rIns="0" bIns="0" rtlCol="0" anchor="t"/>
          <a:lstStyle/>
          <a:p>
            <a:pPr marL="0" indent="0" algn="l">
              <a:lnSpc>
                <a:spcPts val="1450"/>
              </a:lnSpc>
              <a:buNone/>
            </a:pPr>
            <a:r>
              <a:rPr lang="en-US" sz="1150" b="1" dirty="0">
                <a:solidFill>
                  <a:srgbClr val="D7D4CC"/>
                </a:solidFill>
                <a:latin typeface="Comfortaa Bold" pitchFamily="34" charset="0"/>
                <a:ea typeface="Comfortaa Bold" pitchFamily="34" charset="-122"/>
                <a:cs typeface="Comfortaa Bold" pitchFamily="34" charset="-120"/>
              </a:rPr>
              <a:t>Améliorations possibles</a:t>
            </a:r>
            <a:endParaRPr lang="en-US" sz="1150" dirty="0"/>
          </a:p>
        </p:txBody>
      </p:sp>
      <p:sp>
        <p:nvSpPr>
          <p:cNvPr id="11" name="Text 6"/>
          <p:cNvSpPr/>
          <p:nvPr/>
        </p:nvSpPr>
        <p:spPr>
          <a:xfrm>
            <a:off x="6520755" y="1328514"/>
            <a:ext cx="2089770" cy="1469975"/>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         Containerisation avec Docker, orchestration via Apache Airflow, migration vers         une base PostgreSQL, automatisation quotidienne du pipeline et mise en place         d’un monitoring ETL (alerting &amp; métriques).       </a:t>
            </a:r>
            <a:endParaRPr lang="en-US" sz="1050" dirty="0"/>
          </a:p>
        </p:txBody>
      </p:sp>
      <p:sp>
        <p:nvSpPr>
          <p:cNvPr id="12" name="Shape 7"/>
          <p:cNvSpPr/>
          <p:nvPr/>
        </p:nvSpPr>
        <p:spPr>
          <a:xfrm>
            <a:off x="533474" y="2977158"/>
            <a:ext cx="8077051" cy="9971"/>
          </a:xfrm>
          <a:prstGeom prst="rect">
            <a:avLst/>
          </a:prstGeom>
          <a:solidFill>
            <a:srgbClr val="D7D4CC">
              <a:alpha val="50000"/>
            </a:srgbClr>
          </a:solidFill>
          <a:ln/>
        </p:spPr>
      </p:sp>
      <p:sp>
        <p:nvSpPr>
          <p:cNvPr id="13" name="Text 8"/>
          <p:cNvSpPr/>
          <p:nvPr/>
        </p:nvSpPr>
        <p:spPr>
          <a:xfrm>
            <a:off x="533474" y="3165797"/>
            <a:ext cx="8077051" cy="629989"/>
          </a:xfrm>
          <a:prstGeom prst="rect">
            <a:avLst/>
          </a:prstGeom>
          <a:noFill/>
          <a:ln/>
        </p:spPr>
        <p:txBody>
          <a:bodyPr wrap="square" lIns="0" tIns="0" rIns="0" bIns="0" rtlCol="0" anchor="t"/>
          <a:lstStyle/>
          <a:p>
            <a:pPr marL="0" indent="0" algn="l">
              <a:lnSpc>
                <a:spcPts val="1650"/>
              </a:lnSpc>
              <a:buNone/>
            </a:pPr>
            <a:r>
              <a:rPr lang="en-US" sz="1050" dirty="0">
                <a:solidFill>
                  <a:srgbClr val="D7D4CC"/>
                </a:solidFill>
                <a:latin typeface="Raleway Medium" pitchFamily="34" charset="0"/>
                <a:ea typeface="Raleway Medium" pitchFamily="34" charset="-122"/>
                <a:cs typeface="Raleway Medium" pitchFamily="34" charset="-120"/>
              </a:rPr>
              <a:t>     En synthèse, ce projet a permis d’appliquer et de valider les concepts fondamentaux     du Data Engineering en délivrant un pipeline ETL complet, reproductible et sécurisé,     produisant des dashboards Power BI directement exploitables pour la prise de décision.   </a:t>
            </a:r>
            <a:endParaRPr lang="en-US" sz="1050" dirty="0"/>
          </a:p>
        </p:txBody>
      </p:sp>
      <p:sp>
        <p:nvSpPr>
          <p:cNvPr id="14" name="Shape 9"/>
          <p:cNvSpPr/>
          <p:nvPr/>
        </p:nvSpPr>
        <p:spPr>
          <a:xfrm>
            <a:off x="533474" y="3941118"/>
            <a:ext cx="8077051" cy="765423"/>
          </a:xfrm>
          <a:prstGeom prst="roundRect">
            <a:avLst>
              <a:gd name="adj" fmla="val 26139"/>
            </a:avLst>
          </a:prstGeom>
          <a:solidFill>
            <a:srgbClr val="4D4000"/>
          </a:solidFill>
          <a:ln/>
        </p:spPr>
      </p:sp>
      <p:pic>
        <p:nvPicPr>
          <p:cNvPr id="15" name="Image 3" descr="preencoded.png"/>
          <p:cNvPicPr>
            <a:picLocks noChangeAspect="1"/>
          </p:cNvPicPr>
          <p:nvPr/>
        </p:nvPicPr>
        <p:blipFill>
          <a:blip r:embed="rId9"/>
          <a:stretch>
            <a:fillRect/>
          </a:stretch>
        </p:blipFill>
        <p:spPr>
          <a:xfrm>
            <a:off x="666824" y="4138761"/>
            <a:ext cx="166688" cy="133350"/>
          </a:xfrm>
          <a:prstGeom prst="rect">
            <a:avLst/>
          </a:prstGeom>
        </p:spPr>
      </p:pic>
      <p:sp>
        <p:nvSpPr>
          <p:cNvPr id="16" name="Text 10"/>
          <p:cNvSpPr/>
          <p:nvPr/>
        </p:nvSpPr>
        <p:spPr>
          <a:xfrm>
            <a:off x="966862" y="4103638"/>
            <a:ext cx="7510314" cy="419993"/>
          </a:xfrm>
          <a:prstGeom prst="rect">
            <a:avLst/>
          </a:prstGeom>
          <a:noFill/>
          <a:ln/>
        </p:spPr>
        <p:txBody>
          <a:bodyPr wrap="square" lIns="0" tIns="0" rIns="0" bIns="0" rtlCol="0" anchor="t"/>
          <a:lstStyle/>
          <a:p>
            <a:pPr marL="0" indent="0" algn="l">
              <a:lnSpc>
                <a:spcPts val="1650"/>
              </a:lnSpc>
              <a:buNone/>
            </a:pPr>
            <a:r>
              <a:rPr lang="en-US" sz="1050" dirty="0">
                <a:solidFill>
                  <a:srgbClr val="FFFFFF"/>
                </a:solidFill>
                <a:latin typeface="Raleway Medium" pitchFamily="34" charset="0"/>
                <a:ea typeface="Raleway Medium" pitchFamily="34" charset="-122"/>
                <a:cs typeface="Raleway Medium" pitchFamily="34" charset="-120"/>
              </a:rPr>
              <a:t> Couleur thème utilisée pour emphase : #FFE14D. Recommandation : prioriser automatisation et monitoring avant passage en production.</a:t>
            </a:r>
            <a:endParaRPr lang="en-US" sz="1050" dirty="0"/>
          </a:p>
        </p:txBody>
      </p:sp>
      <p:sp>
        <p:nvSpPr>
          <p:cNvPr id="17" name="Rectangle : coins arrondis 16">
            <a:extLst>
              <a:ext uri="{FF2B5EF4-FFF2-40B4-BE49-F238E27FC236}">
                <a16:creationId xmlns:a16="http://schemas.microsoft.com/office/drawing/2014/main" id="{EEA8CBD3-782C-D24D-71F4-D445D33B14B7}"/>
              </a:ext>
            </a:extLst>
          </p:cNvPr>
          <p:cNvSpPr/>
          <p:nvPr/>
        </p:nvSpPr>
        <p:spPr>
          <a:xfrm>
            <a:off x="8067822" y="4818184"/>
            <a:ext cx="998806" cy="269045"/>
          </a:xfrm>
          <a:prstGeom prst="roundRect">
            <a:avLst/>
          </a:prstGeom>
          <a:solidFill>
            <a:srgbClr val="27272B"/>
          </a:solidFill>
          <a:ln>
            <a:solidFill>
              <a:srgbClr val="27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743</Words>
  <Application>Microsoft Office PowerPoint</Application>
  <PresentationFormat>Affichage à l'écran (16:9)</PresentationFormat>
  <Paragraphs>41</Paragraphs>
  <Slides>4</Slides>
  <Notes>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vt:i4>
      </vt:variant>
    </vt:vector>
  </HeadingPairs>
  <TitlesOfParts>
    <vt:vector size="8" baseType="lpstr">
      <vt:lpstr>Arial</vt:lpstr>
      <vt:lpstr>Comfortaa Bold</vt:lpstr>
      <vt:lpstr>Raleway Medium</vt:lpstr>
      <vt:lpstr>Office Theme</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GOMYx 555</cp:lastModifiedBy>
  <cp:revision>2</cp:revision>
  <dcterms:created xsi:type="dcterms:W3CDTF">2026-05-07T10:21:45Z</dcterms:created>
  <dcterms:modified xsi:type="dcterms:W3CDTF">2026-05-07T10:24:45Z</dcterms:modified>
</cp:coreProperties>
</file>